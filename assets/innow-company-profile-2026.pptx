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Masters/added_slideMaster1.xml" ContentType="application/vnd.openxmlformats-officedocument.presentationml.slideMaster+xml"/>
  <Override PartName="/ppt/slideMasters/theme/added_theme2.xml" ContentType="application/vnd.openxmlformats-officedocument.theme+xml"/>
  <Override PartName="/ppt/slideLayouts/added_slideLayout1.xml" ContentType="application/vnd.openxmlformats-officedocument.presentationml.slideLayout+xml"/>
  <Override PartName="/ppt/notesMasters/added_notesMaster1.xml" ContentType="application/vnd.openxmlformats-officedocument.presentationml.notesMaster+xml"/>
  <Override PartName="/ppt/notesMasters/theme/added_theme3.xml" ContentType="application/vnd.openxmlformats-officedocument.theme+xml"/>
  <Override PartName="/ppt/slides/added_slide1.xml" ContentType="application/vnd.openxmlformats-officedocument.presentationml.slide+xml"/>
  <Override PartName="/ppt/notesSlides/added_notesSlide1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71" r:id="rIdAddedClients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Noto Sans Thai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Relationships xmlns="http://schemas.openxmlformats.org/package/2006/relationships"><Relationship Id="rId20" Type="http://schemas.openxmlformats.org/officeDocument/2006/relationships/font" Target="fonts/NotoSansThai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otoSansThai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AddedClients" Type="http://schemas.openxmlformats.org/officeDocument/2006/relationships/slide" Target="slides/added_slide1.xml"/></Relationships>
</file>

<file path=ppt/notesMasters/_rels/added_notesMaster1.xml.rels><?xml version='1.0' encoding='UTF-8' standalone='yes'?>
<Relationships xmlns="http://schemas.openxmlformats.org/package/2006/relationships"><Relationship Type="http://schemas.openxmlformats.org/officeDocument/2006/relationships/theme" Target="theme/added_theme3.xml" Id="R27389c658cb34019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added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Noto Sans Thai"/>
        <a:ea typeface="Noto Sans Thai"/>
        <a:cs typeface="Noto Sans Thai"/>
        <a:sym typeface="Arial"/>
      </a:defRPr>
    </a:lvl9pPr>
  </p:notesStyle>
</p:notesMaster>
</file>

<file path=ppt/notesMasters/theme/added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Thai"/>
        <a:ea typeface="Noto Sans Thai"/>
        <a:cs typeface="Noto Sans Thai"/>
      </a:majorFont>
      <a:minorFont>
        <a:latin typeface="Noto Sans Thai"/>
        <a:ea typeface="Noto Sans Thai"/>
        <a:cs typeface="Noto Sans Tha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added_notesSlide1.xml.rels><?xml version='1.0' encoding='UTF-8' standalone='yes'?>
<Relationships xmlns="http://schemas.openxmlformats.org/package/2006/relationships"><Relationship Type="http://schemas.openxmlformats.org/officeDocument/2006/relationships/slide" Target="../slides/added_slide1.xml" Id="Rc3b2f12cea4d4ee2"/><Relationship Type="http://schemas.openxmlformats.org/officeDocument/2006/relationships/notesMaster" Target="../notesMasters/added_notesMaster1.xml" Id="R4c36654b227c48cf"/></Relationships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added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องค์กรจากรายชื่อลูกค้าและประวัติวิทยากรในไฟล์ต้นฉบับ รวม Noble และเถ้าแก่น้อยตามที่ผู้ใช้ระบุ ธนาคารอาคารสงเคราะห์รวมแผนก IT และทีม Audit ในโลโก้เดียว</a:t>
            </a:r>
          </a:p>
          <a:p xmlns:a="http://schemas.openxmlformats.org/drawingml/2006/main">
            <a:r>
              <a:t>แหล่งที่มาโลโก้:</a:t>
            </a:r>
          </a:p>
          <a:p xmlns:a="http://schemas.openxmlformats.org/drawingml/2006/main">
            <a:r>
              <a:t>noble: https://www.noblehome.com/_nuxt/logo.DWQvDay6.svg</a:t>
            </a:r>
          </a:p>
          <a:p xmlns:a="http://schemas.openxmlformats.org/drawingml/2006/main">
            <a:r>
              <a:t>tkn: https://www.taokaenoiglobal.com/img/logo-taokaenoi.svg</a:t>
            </a:r>
          </a:p>
          <a:p xmlns:a="http://schemas.openxmlformats.org/drawingml/2006/main">
            <a:r>
              <a:t>kgi: https://www.kgieworld.co.th/corporate/media/img/shared/KGI_LOGO_WH.jpg</a:t>
            </a:r>
          </a:p>
          <a:p xmlns:a="http://schemas.openxmlformats.org/drawingml/2006/main">
            <a:r>
              <a:t>thaibev: https://www.thaibev.com/images/logo.svg</a:t>
            </a:r>
          </a:p>
          <a:p xmlns:a="http://schemas.openxmlformats.org/drawingml/2006/main">
            <a:r>
              <a:t>swpark: https://swpark.or.th/assets/images/logo.svg</a:t>
            </a:r>
          </a:p>
          <a:p xmlns:a="http://schemas.openxmlformats.org/drawingml/2006/main">
            <a:r>
              <a:t>quick: https://quick-transformation.com/wp-content/uploads/2025/08/Quick-Transformation-Frame.png</a:t>
            </a:r>
          </a:p>
          <a:p xmlns:a="http://schemas.openxmlformats.org/drawingml/2006/main">
            <a:r>
              <a:t>nha: https://www.nha.co.th/wp-content/uploads/2020/11/cropped-logo_nha_blue-1.png</a:t>
            </a:r>
          </a:p>
          <a:p xmlns:a="http://schemas.openxmlformats.org/drawingml/2006/main">
            <a:r>
              <a:t>ete: https://static.wixstatic.com/media/a573a5_983fd599f97443798a5511f7e1b6be72~mv2.jpg</a:t>
            </a:r>
          </a:p>
          <a:p xmlns:a="http://schemas.openxmlformats.org/drawingml/2006/main">
            <a:r>
              <a:t>bla: https://www.bangkoklife.com/online/assets/images/og/OG_1200x630_home.jpg</a:t>
            </a:r>
          </a:p>
          <a:p xmlns:a="http://schemas.openxmlformats.org/drawingml/2006/main">
            <a:r>
              <a:t>itmx: https://www.redhat.com/rhdc/managed-files/Copy%20of%20NITMX-Logo-Png.png</a:t>
            </a:r>
          </a:p>
          <a:p xmlns:a="http://schemas.openxmlformats.org/drawingml/2006/main">
            <a:r>
              <a:t>dbd: https://opendata.dbd.go.th/uploads/group/2023-02-15-014215.4272322022-11-16-084010.395963DBD2.jpg</a:t>
            </a:r>
          </a:p>
          <a:p xmlns:a="http://schemas.openxmlformats.org/drawingml/2006/main">
            <a:r>
              <a:t>moph: https://kruwandee.com/datas/document/picture-3-50211.png</a:t>
            </a:r>
          </a:p>
          <a:p xmlns:a="http://schemas.openxmlformats.org/drawingml/2006/main">
            <a:r>
              <a:t>aerothai: https://intelligent.co.th/wp-content/uploads/2022/11/2557-1280x720.png</a:t>
            </a:r>
          </a:p>
          <a:p xmlns:a="http://schemas.openxmlformats.org/drawingml/2006/main">
            <a:r>
              <a:t>oap: https://www.oap.go.th/wp-content/uploads/2025/10/cropped-cropped-ดีไซน์ที่ยังไม่ได้ตั้งชื่อ-1-768x176.png</a:t>
            </a:r>
          </a:p>
          <a:p xmlns:a="http://schemas.openxmlformats.org/drawingml/2006/main">
            <a:r>
              <a:t>uob: https://www.uob.com.my/assets/web-resources/about/images/index/about-our-logo.jpg</a:t>
            </a:r>
          </a:p>
          <a:p xmlns:a="http://schemas.openxmlformats.org/drawingml/2006/main">
            <a:r>
              <a:t>ghb: https://machomotion.com/wp-content/uploads/2022/02/GH-BANK.jpg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สไลด์เปิด — แนะนำ Innow และขอบเขตหลักสูตร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ประวัติผู้ก่อตั้งและองค์กรที่เกี่ยวข้อง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สรุปรายชื่อองค์กรที่เคยจัดอบรม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สำนักงานปรมาณูเพื่อสันติ — หน่วยงานภาครัฐ · ChatGPT &amp; AI Mastery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KGI — สถาบันการเงิน · ChatGPT &amp; AI Mastery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ThaiBev — ภาคเอกชน · ChatGPT &amp; AI Mastery</a:t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Park Thailand — หน่วยงานภาครัฐ · Code Camp</a:t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ธนาคารอาคารสงเคราะห์ — แผนก IT — สถาบันการเงินเฉพาะกิจของรัฐ</a:t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Transformation — บริษัทมหาชน</a:t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วิทยุการบินแห่งประเทศไทย — รัฐวิสาหกิจ</a:t>
            </a:r>
            <a:endParaRPr/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กรุงเทพประกันชีวิต — ภาคเอกชน · Secure Coding</a:t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ธนาคารอาคารสงเคราะห์ — ทีม Audit — สถาบันการเงินเฉพาะกิจของรัฐ</a:t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บูรพา เทคนิคอล เอ็นจิเนียริ่ง — บริษัทมหาชน · งานวิศวกรรม</a:t>
            </a:r>
            <a:endParaRPr/>
          </a:p>
        </p:txBody>
      </p:sp>
      <p:sp>
        <p:nvSpPr>
          <p:cNvPr id="181" name="Google Shape;1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การเคหะแห่งชาติ — รัฐวิสาหกิจ</a:t>
            </a:r>
            <a:endParaRPr/>
          </a:p>
        </p:txBody>
      </p:sp>
      <p:sp>
        <p:nvSpPr>
          <p:cNvPr id="192" name="Google Shape;1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สไลด์ปิด — ใส่ช่องทางติดต่อของบริษัทเพิ่มได้ที่นี่</a:t>
            </a:r>
            <a:endParaRPr/>
          </a:p>
        </p:txBody>
      </p:sp>
      <p:sp>
        <p:nvSpPr>
          <p:cNvPr id="203" name="Google Shape;2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added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added_slideMaster1.xml" Id="R9c22138ee4e54191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added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added_slideMaster1.xml.rels><?xml version='1.0' encoding='UTF-8' standalone='yes'?>
<Relationships xmlns="http://schemas.openxmlformats.org/package/2006/relationships"><Relationship Type="http://schemas.openxmlformats.org/officeDocument/2006/relationships/theme" Target="theme/added_theme2.xml" Id="Rbcf784397b3346dc"/><Relationship Type="http://schemas.openxmlformats.org/officeDocument/2006/relationships/slideLayout" Target="../slideLayouts/added_slideLayout1.xml" Id="R6a98e58cfa1e4bbb"/></Relationships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added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8e58cfa1e4b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Thai"/>
          <a:ea typeface="Noto Sans Thai"/>
          <a:cs typeface="Noto Sans Tha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Thai"/>
          <a:ea typeface="Noto Sans Thai"/>
          <a:cs typeface="Noto Sans Tha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Thai"/>
          <a:ea typeface="Noto Sans Thai"/>
          <a:cs typeface="Noto Sans Tha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Thai"/>
          <a:ea typeface="Noto Sans Thai"/>
          <a:cs typeface="Noto Sans Tha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Thai"/>
          <a:ea typeface="Noto Sans Thai"/>
          <a:cs typeface="Noto Sans Thai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Noto Sans Thai"/>
          <a:ea typeface="Noto Sans Thai"/>
          <a:cs typeface="Noto Sans Thai"/>
          <a:sym typeface="Arial"/>
        </a:defRPr>
      </a:lvl9pPr>
    </p:otherStyle>
  </p:txStyles>
</p:sldMaster>
</file>

<file path=ppt/slideMasters/theme/added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Thai"/>
        <a:ea typeface="Noto Sans Thai"/>
        <a:cs typeface="Noto Sans Thai"/>
      </a:majorFont>
      <a:minorFont>
        <a:latin typeface="Noto Sans Thai"/>
        <a:ea typeface="Noto Sans Thai"/>
        <a:cs typeface="Noto Sans Tha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added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added_slideLayout1.xml" Id="R73323516c091427a"/><Relationship Type="http://schemas.openxmlformats.org/officeDocument/2006/relationships/image" Target="../media/added_image.png" Id="Rc7812ce662e1421d"/><Relationship Type="http://schemas.openxmlformats.org/officeDocument/2006/relationships/image" Target="../media/added_image2.png" Id="Rce877164d04146d0"/><Relationship Type="http://schemas.openxmlformats.org/officeDocument/2006/relationships/image" Target="../media/added_image3.png" Id="R5631828bf88647d4"/><Relationship Type="http://schemas.openxmlformats.org/officeDocument/2006/relationships/image" Target="../media/added_image4.png" Id="Rba9eeb948095467a"/><Relationship Type="http://schemas.openxmlformats.org/officeDocument/2006/relationships/image" Target="../media/added_image5.png" Id="R3bd091daf98e4097"/><Relationship Type="http://schemas.openxmlformats.org/officeDocument/2006/relationships/image" Target="../media/added_image6.png" Id="R459edecb460f4146"/><Relationship Type="http://schemas.openxmlformats.org/officeDocument/2006/relationships/image" Target="../media/added_image7.png" Id="R753f0afdd34b49fc"/><Relationship Type="http://schemas.openxmlformats.org/officeDocument/2006/relationships/image" Target="../media/added_image8.png" Id="R789b633e680545ab"/><Relationship Type="http://schemas.openxmlformats.org/officeDocument/2006/relationships/image" Target="../media/added_image9.png" Id="R1de36df7ea274fae"/><Relationship Type="http://schemas.openxmlformats.org/officeDocument/2006/relationships/image" Target="../media/added_image10.png" Id="Re81e662647134253"/><Relationship Type="http://schemas.openxmlformats.org/officeDocument/2006/relationships/image" Target="../media/added_image11.png" Id="R9ee016017fef437f"/><Relationship Type="http://schemas.openxmlformats.org/officeDocument/2006/relationships/image" Target="../media/added_image12.png" Id="Ra353c20c0bce4b3e"/><Relationship Type="http://schemas.openxmlformats.org/officeDocument/2006/relationships/image" Target="../media/added_image13.png" Id="R6595ed1b08154233"/><Relationship Type="http://schemas.openxmlformats.org/officeDocument/2006/relationships/image" Target="../media/added_image14.png" Id="R0df61b4d83ce40f2"/><Relationship Type="http://schemas.openxmlformats.org/officeDocument/2006/relationships/image" Target="../media/added_image15.png" Id="R968fa4f2988e433e"/><Relationship Type="http://schemas.openxmlformats.org/officeDocument/2006/relationships/image" Target="../media/added_image16.png" Id="R93d12a6d98be4e7b"/><Relationship Type="http://schemas.openxmlformats.org/officeDocument/2006/relationships/image" Target="../media/added_image17.png" Id="Rf39e2006fab14478"/><Relationship Type="http://schemas.openxmlformats.org/officeDocument/2006/relationships/notesSlide" Target="../notesSlides/added_notesSlide1.xml" Id="R5fc6d7694c7240d0"/></Relationships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jp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jp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added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83059D-FD6D-499A-ADA5-93C5CFB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องค์กรที่ไว้วางใจ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12ce662e1421d"/>
          <a:stretch xmlns:a="http://schemas.openxmlformats.org/drawingml/2006/main"/>
        </p:blipFill>
        <p:spPr>
          <a:xfrm xmlns:a="http://schemas.openxmlformats.org/drawingml/2006/main">
            <a:off x="1123950" y="1479892"/>
            <a:ext cx="2000250" cy="42159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4A62F-ED6E-460A-BEDF-AAA22AF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สำนักงานปรมาณูเพื่อสันติ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77164d04146d0"/>
          <a:stretch xmlns:a="http://schemas.openxmlformats.org/drawingml/2006/main"/>
        </p:blipFill>
        <p:spPr>
          <a:xfrm xmlns:a="http://schemas.openxmlformats.org/drawingml/2006/main">
            <a:off x="3867150" y="1435271"/>
            <a:ext cx="2000250" cy="5108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89C4-C877-4057-8246-EC296C72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KGI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828bf88647d4"/>
          <a:stretch xmlns:a="http://schemas.openxmlformats.org/drawingml/2006/main"/>
        </p:blipFill>
        <p:spPr>
          <a:xfrm xmlns:a="http://schemas.openxmlformats.org/drawingml/2006/main">
            <a:off x="6672749" y="1295400"/>
            <a:ext cx="1875452" cy="790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90C55-5BE6-42C1-855E-AC5D1B83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ThaiBev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eeb948095467a"/>
          <a:stretch xmlns:a="http://schemas.openxmlformats.org/drawingml/2006/main"/>
        </p:blipFill>
        <p:spPr>
          <a:xfrm xmlns:a="http://schemas.openxmlformats.org/drawingml/2006/main">
            <a:off x="9353550" y="1526052"/>
            <a:ext cx="2000250" cy="3292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9B6F6-7FD8-4109-9819-FD402741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Software Park Thailand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091daf98e4097"/>
          <a:stretch xmlns:a="http://schemas.openxmlformats.org/drawingml/2006/main"/>
        </p:blipFill>
        <p:spPr>
          <a:xfrm xmlns:a="http://schemas.openxmlformats.org/drawingml/2006/main">
            <a:off x="1338771" y="2552700"/>
            <a:ext cx="1570609" cy="7905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E4CEB-21FC-42E9-B09D-948C57D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ธนาคารอาคารสงเคราะห์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edecb460f4146"/>
          <a:stretch xmlns:a="http://schemas.openxmlformats.org/drawingml/2006/main"/>
        </p:blipFill>
        <p:spPr>
          <a:xfrm xmlns:a="http://schemas.openxmlformats.org/drawingml/2006/main">
            <a:off x="4471988" y="2552700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CC8BE-D50C-45CB-9F84-59C959B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Quick Transformation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f0afdd34b49fc"/>
          <a:stretch xmlns:a="http://schemas.openxmlformats.org/drawingml/2006/main"/>
        </p:blipFill>
        <p:spPr>
          <a:xfrm xmlns:a="http://schemas.openxmlformats.org/drawingml/2006/main">
            <a:off x="7216505" y="2552700"/>
            <a:ext cx="787940" cy="7905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46BB1-2BF5-469D-8AA6-F2B3074D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วิทยุการบินแห่งประเทศไทย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b633e680545ab"/>
          <a:stretch xmlns:a="http://schemas.openxmlformats.org/drawingml/2006/main"/>
        </p:blipFill>
        <p:spPr>
          <a:xfrm xmlns:a="http://schemas.openxmlformats.org/drawingml/2006/main">
            <a:off x="9353550" y="2560247"/>
            <a:ext cx="2000250" cy="775482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1430B-88F6-4D1E-8A0E-B6A90BA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กรุงเทพประกันชีวิต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36df7ea274fae"/>
          <a:stretch xmlns:a="http://schemas.openxmlformats.org/drawingml/2006/main"/>
        </p:blipFill>
        <p:spPr>
          <a:xfrm xmlns:a="http://schemas.openxmlformats.org/drawingml/2006/main">
            <a:off x="1123950" y="3903711"/>
            <a:ext cx="2000250" cy="603152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AD3B3-2F08-4C13-A0FE-A5611E48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บูรพา เทคนิคอล เอ็นจิเนียริ่ง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e662647134253"/>
          <a:stretch xmlns:a="http://schemas.openxmlformats.org/drawingml/2006/main"/>
        </p:blipFill>
        <p:spPr>
          <a:xfrm xmlns:a="http://schemas.openxmlformats.org/drawingml/2006/main">
            <a:off x="4471988" y="3810000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7E4E7-2CEA-4B88-8B33-724CA8ED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48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การเคหะแห่งชาติ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016017fef437f"/>
          <a:stretch xmlns:a="http://schemas.openxmlformats.org/drawingml/2006/main"/>
        </p:blipFill>
        <p:spPr>
          <a:xfrm xmlns:a="http://schemas.openxmlformats.org/drawingml/2006/main">
            <a:off x="6610350" y="3920637"/>
            <a:ext cx="2000250" cy="569302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70F21-DEC5-48C2-9454-75695BA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UOB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3c20c0bce4b3e"/>
          <a:stretch xmlns:a="http://schemas.openxmlformats.org/drawingml/2006/main"/>
        </p:blipFill>
        <p:spPr>
          <a:xfrm xmlns:a="http://schemas.openxmlformats.org/drawingml/2006/main">
            <a:off x="9353550" y="3852936"/>
            <a:ext cx="2000250" cy="704703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F8376-074A-4698-83E6-A6B606F1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National ITMX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5ed1b08154233"/>
          <a:stretch xmlns:a="http://schemas.openxmlformats.org/drawingml/2006/main"/>
        </p:blipFill>
        <p:spPr>
          <a:xfrm xmlns:a="http://schemas.openxmlformats.org/drawingml/2006/main">
            <a:off x="1496886" y="5067300"/>
            <a:ext cx="1254379" cy="79057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1AB22-AA19-48B5-8258-24D85BC5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กรมพัฒนาธุรกิจการค้า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61b4d83ce40f2"/>
          <a:stretch xmlns:a="http://schemas.openxmlformats.org/drawingml/2006/main"/>
        </p:blipFill>
        <p:spPr>
          <a:xfrm xmlns:a="http://schemas.openxmlformats.org/drawingml/2006/main">
            <a:off x="4464082" y="5067300"/>
            <a:ext cx="806387" cy="7905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97F4A-F019-4096-AE5D-4955B38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05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กระทรวงสาธารณสุข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fa4f2988e433e"/>
          <a:stretch xmlns:a="http://schemas.openxmlformats.org/drawingml/2006/main"/>
        </p:blipFill>
        <p:spPr>
          <a:xfrm xmlns:a="http://schemas.openxmlformats.org/drawingml/2006/main">
            <a:off x="6610350" y="5122545"/>
            <a:ext cx="2000250" cy="68008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DED9CF-30E9-475E-B173-7CA09DD7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05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Noble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12a6d98be4e7b"/>
          <a:stretch xmlns:a="http://schemas.openxmlformats.org/drawingml/2006/main"/>
        </p:blipFill>
        <p:spPr>
          <a:xfrm xmlns:a="http://schemas.openxmlformats.org/drawingml/2006/main">
            <a:off x="9983422" y="5067300"/>
            <a:ext cx="740505" cy="7905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A76E20-782C-4B8A-9C7D-D586C31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092648"/>
                </a:solidFill>
                <a:latin typeface="Noto Sans Thai"/>
                <a:ea typeface="Noto Sans Thai"/>
                <a:cs typeface="Noto Sans Thai"/>
              </a:rPr>
              <a:t>เถ้าแก่น้อย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e2006fab14478"/>
          <a:stretch xmlns:a="http://schemas.openxmlformats.org/drawingml/2006/main"/>
        </p:blipFill>
        <p:spPr>
          <a:xfrm xmlns:a="http://schemas.openxmlformats.org/drawingml/2006/main">
            <a:off x="10993531" y="6076950"/>
            <a:ext cx="739588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0118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ver.jp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6254A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_white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868680"/>
            <a:ext cx="1920240" cy="148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914400" y="301752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300"/>
              <a:buFont typeface="Noto Sans Thai"/>
              <a:buNone/>
            </a:pPr>
            <a:r>
              <a:rPr b="1" i="0" lang="en-US" sz="13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COMPANY PROFILE</a:t>
            </a:r>
            <a:endParaRPr b="0" i="0" sz="1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14400" y="3474720"/>
            <a:ext cx="5760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 Tha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พัฒนาศักยภาพคนทำงาน</a:t>
            </a:r>
            <a:endParaRPr b="0" i="0" sz="40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 Tha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ด้วย AI และเทคโนโลยี</a:t>
            </a:r>
            <a:endParaRPr b="0" i="0" sz="40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914400" y="534924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4DC"/>
              </a:buClr>
              <a:buSzPts val="1300"/>
              <a:buFont typeface="Noto Sans Thai"/>
              <a:buNone/>
            </a:pPr>
            <a:r>
              <a:rPr b="0" i="0" lang="en-US" sz="1300" u="none" cap="none" strike="noStrike">
                <a:solidFill>
                  <a:srgbClr val="AFC4D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หลักสูตรอบรมองค์กร  ·  ChatGPT &amp; AI Mastery  ·  Secure Coding</a:t>
            </a:r>
            <a:endParaRPr b="0" i="0" sz="1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777240" y="731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799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01479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ผู้ก่อตั้ง / FOUNDER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777240" y="1097280"/>
            <a:ext cx="6583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3800"/>
              <a:buFont typeface="Noto Sans Thai"/>
              <a:buNone/>
            </a:pPr>
            <a:r>
              <a:rPr b="1" i="0" lang="en-US" sz="380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ไพบูลย์ พนัสบดี</a:t>
            </a:r>
            <a:endParaRPr b="0" i="0" sz="38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777240" y="192024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799"/>
              </a:buClr>
              <a:buSzPts val="1500"/>
              <a:buFont typeface="Noto Sans Thai"/>
              <a:buNone/>
            </a:pPr>
            <a:r>
              <a:rPr b="0" i="0" lang="en-US" sz="1500" u="none" cap="none" strike="noStrike">
                <a:solidFill>
                  <a:srgbClr val="01479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Co-founder &amp; CTO — Codekit Innovation Co., Ltd.</a:t>
            </a:r>
            <a:endParaRPr b="0" i="0" sz="15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04672" y="2660904"/>
            <a:ext cx="146304" cy="146304"/>
          </a:xfrm>
          <a:prstGeom prst="ellipse">
            <a:avLst/>
          </a:prstGeom>
          <a:solidFill>
            <a:srgbClr val="0147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1170432" y="254203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1350"/>
              <a:buFont typeface="Noto Sans Thai"/>
              <a:buNone/>
            </a:pPr>
            <a:r>
              <a:rPr b="0" i="0" lang="en-US" sz="135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อดีตนายกสมาคมโปรแกรมเมอร์ไทย (Thai Programmer Association)</a:t>
            </a:r>
            <a:endParaRPr b="0" i="0" sz="135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04672" y="3227832"/>
            <a:ext cx="146304" cy="146304"/>
          </a:xfrm>
          <a:prstGeom prst="ellipse">
            <a:avLst/>
          </a:prstGeom>
          <a:solidFill>
            <a:srgbClr val="0147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170432" y="310896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1350"/>
              <a:buFont typeface="Noto Sans Thai"/>
              <a:buNone/>
            </a:pPr>
            <a:r>
              <a:rPr b="0" i="0" lang="en-US" sz="135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อดีต Program Director — Software Park Thailand Code Camp</a:t>
            </a:r>
            <a:endParaRPr b="0" i="0" sz="135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04672" y="3794760"/>
            <a:ext cx="146304" cy="146304"/>
          </a:xfrm>
          <a:prstGeom prst="ellipse">
            <a:avLst/>
          </a:prstGeom>
          <a:solidFill>
            <a:srgbClr val="0147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1170432" y="367588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1350"/>
              <a:buFont typeface="Noto Sans Thai"/>
              <a:buNone/>
            </a:pPr>
            <a:r>
              <a:rPr b="0" i="0" lang="en-US" sz="135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ผู้ก่อตั้งงาน National Coding Day</a:t>
            </a:r>
            <a:endParaRPr b="0" i="0" sz="135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04672" y="4361688"/>
            <a:ext cx="146304" cy="146304"/>
          </a:xfrm>
          <a:prstGeom prst="ellipse">
            <a:avLst/>
          </a:prstGeom>
          <a:solidFill>
            <a:srgbClr val="0147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170432" y="4242816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1350"/>
              <a:buFont typeface="Noto Sans Thai"/>
              <a:buNone/>
            </a:pPr>
            <a:r>
              <a:rPr b="0" i="0" lang="en-US" sz="135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ChatGPT &amp; AI Mastery Instructor — ThaiBev, UOB, KGI, สำนักงานปรมาณูเพื่อสันติ</a:t>
            </a:r>
            <a:endParaRPr b="0" i="0" sz="135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04672" y="4928616"/>
            <a:ext cx="146304" cy="146304"/>
          </a:xfrm>
          <a:prstGeom prst="ellipse">
            <a:avLst/>
          </a:prstGeom>
          <a:solidFill>
            <a:srgbClr val="0147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1170432" y="4809744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53C"/>
              </a:buClr>
              <a:buSzPts val="1350"/>
              <a:buFont typeface="Noto Sans Thai"/>
              <a:buNone/>
            </a:pPr>
            <a:r>
              <a:rPr b="0" i="0" lang="en-US" sz="1350" u="none" cap="none" strike="noStrike">
                <a:solidFill>
                  <a:srgbClr val="13253C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Secure Coding Instructor — ITMX, DBD, กรุงเทพประกันชีวิต, กระทรวงสาธารณสุข</a:t>
            </a:r>
            <a:endParaRPr b="0" i="0" sz="135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pic>
        <p:nvPicPr>
          <p:cNvPr descr="/home/claude/assets/portrait.jp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0" y="1051560"/>
            <a:ext cx="3154680" cy="3154680"/>
          </a:xfrm>
          <a:prstGeom prst="ellipse">
            <a:avLst/>
          </a:prstGeom>
          <a:noFill/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</p:pic>
      <p:sp>
        <p:nvSpPr>
          <p:cNvPr id="41" name="Google Shape;41;p4"/>
          <p:cNvSpPr/>
          <p:nvPr/>
        </p:nvSpPr>
        <p:spPr>
          <a:xfrm>
            <a:off x="777240" y="5577840"/>
            <a:ext cx="9052560" cy="868680"/>
          </a:xfrm>
          <a:prstGeom prst="roundRect">
            <a:avLst>
              <a:gd fmla="val 10526" name="adj"/>
            </a:avLst>
          </a:prstGeom>
          <a:solidFill>
            <a:srgbClr val="F1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thaiprog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5736217"/>
            <a:ext cx="1024128" cy="55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codecamp.png" id="43" name="Google Shape;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128" y="5728716"/>
            <a:ext cx="566928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ncd.png" id="44" name="Google Shape;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7176" y="5795369"/>
            <a:ext cx="1060704" cy="433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codekit.png" id="45" name="Google Shape;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5787640"/>
            <a:ext cx="1097280" cy="44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47" name="Google Shape;4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822960" y="777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 Tha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องค์กรที่ไว้วางใจ</a:t>
            </a:r>
            <a:endParaRPr b="0" i="0" sz="38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822960" y="15727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11 องค์กรชั้นนำ ทั้งหน่วยงานภาครัฐ รัฐวิสาหกิจ สถาบันการเงิน และภาคเอกชน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822960" y="24231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325880" y="23957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สำนักงานปรมาณูเพื่อสันติ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822960" y="302666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1325880" y="2999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KGI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822960" y="36301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1325880" y="360273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ThaiBev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822960" y="423367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32588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Software Park Thailand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22960" y="483717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325880" y="480974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ธนาคารอาคารสงเคราะห์ — แผนก IT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22960" y="544068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325880" y="541324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Quick Transformation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6492240" y="24231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6995160" y="23957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วิทยุการบินแห่งประเทศไทย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492240" y="302666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6995160" y="2999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กรุงเทพประกันชีวิต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6492240" y="36301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995160" y="360273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ธนาคารอาคารสงเคราะห์ — ทีม Audit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6492240" y="423367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99516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บูรพา เทคนิคอล เอ็นจิเนียริ่ง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6492240" y="483717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6995160" y="480974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Tha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การเคหะแห่งชาติ</a:t>
            </a:r>
            <a:endParaRPr b="0" i="0" sz="1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aw.jp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สำนักงานปรมาณูเพื่อสันติ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หน่วยงานภาครัฐ · ChatGPT &amp; AI Mastery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kgi.jpg" id="95" name="Google Shape;95;p7"/>
          <p:cNvPicPr preferRelativeResize="0"/>
          <p:nvPr/>
        </p:nvPicPr>
        <p:blipFill rotWithShape="1">
          <a:blip r:embed="rId3">
            <a:alphaModFix/>
          </a:blip>
          <a:srcRect b="5000" l="0" r="0" t="20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KGI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สถาบันการเงิน · ChatGPT &amp; AI Mastery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thaibev.jpg" id="106" name="Google Shape;106;p8"/>
          <p:cNvPicPr preferRelativeResize="0"/>
          <p:nvPr/>
        </p:nvPicPr>
        <p:blipFill rotWithShape="1">
          <a:blip r:embed="rId3">
            <a:alphaModFix/>
          </a:blip>
          <a:srcRect b="7000" l="0" r="0" t="18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ThaiBev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ภาคเอกชน · ChatGPT &amp; AI Mastery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11" name="Google Shape;1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swpark.jpg"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Software Park Thailand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หน่วยงานภาครัฐ 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22" name="Google Shape;1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ghb_it.jpg" id="128" name="Google Shape;1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ธนาคารอาคารสงเคราะห์ — แผนก IT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สถาบันการเงินเฉพาะกิจของรัฐ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33" name="Google Shape;1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quick.jpg"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Quick Transformation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บริษัทมหาชน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44" name="Google Shape;1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aerothai.jpg" id="150" name="Google Shape;150;p12"/>
          <p:cNvPicPr preferRelativeResize="0"/>
          <p:nvPr/>
        </p:nvPicPr>
        <p:blipFill rotWithShape="1">
          <a:blip r:embed="rId3">
            <a:alphaModFix/>
          </a:blip>
          <a:srcRect b="0" l="0" r="0" t="25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2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วิทยุการบินแห่งประเทศไทย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รัฐวิสาหกิจ · ChatGPT &amp; AI Mastery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55" name="Google Shape;1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bla.jpg"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กรุงเทพประกันชีวิต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ภาคเอกชน · Secure Coding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66" name="Google Shape;1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ghb_audit.jpg"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4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ธนาคารอาคารสงเคราะห์ — ทีม Audit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สถาบันการเงินเฉพาะกิจของรัฐ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77" name="Google Shape;17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burapa.jpg"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8000" r="1100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บูรพา เทคนิคอล เอ็นจิเนียริ่ง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บริษัทมหาชน · งานวิศวกรรม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88" name="Google Shape;1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nha.jpg"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/>
          <p:nvPr/>
        </p:nvSpPr>
        <p:spPr>
          <a:xfrm>
            <a:off x="685800" y="4572000"/>
            <a:ext cx="6949440" cy="1691640"/>
          </a:xfrm>
          <a:prstGeom prst="roundRect">
            <a:avLst>
              <a:gd fmla="val 3243" name="adj"/>
            </a:avLst>
          </a:prstGeom>
          <a:solidFill>
            <a:srgbClr val="06254A">
              <a:alpha val="74902"/>
            </a:srgbClr>
          </a:solidFill>
          <a:ln>
            <a:noFill/>
          </a:ln>
          <a:effectLst>
            <a:outerShdw blurRad="304800" rotWithShape="0" algn="bl" dir="5400000" dist="76200">
              <a:srgbClr val="0A1F3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51560" y="47914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200"/>
              <a:buFont typeface="Noto Sans Thai"/>
              <a:buNone/>
            </a:pPr>
            <a:r>
              <a:rPr b="1" i="0" lang="en-US" sz="12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051560" y="4983480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 Tha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การเคหะแห่งชาติ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B7CBE3"/>
              </a:buClr>
              <a:buSzPts val="1200"/>
              <a:buFont typeface="Noto Sans Thai"/>
              <a:buNone/>
            </a:pPr>
            <a:r>
              <a:rPr b="0" i="0" lang="en-US" sz="1200" u="none" cap="none" strike="noStrike">
                <a:solidFill>
                  <a:srgbClr val="B7CBE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รัฐวิสาหกิจ</a:t>
            </a:r>
            <a:endParaRPr b="0" i="0" sz="2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10835640" y="5961888"/>
            <a:ext cx="105156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0A1F3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nnow.png" id="199" name="Google Shape;1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516" y="6001373"/>
            <a:ext cx="749808" cy="57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54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innow_white.png" id="205" name="Google Shape;2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1428" y="1874520"/>
            <a:ext cx="2148840" cy="166046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2438248" y="39776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 Tha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ขอบคุณครับ</a:t>
            </a:r>
            <a:endParaRPr b="0" i="0" sz="34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523848" y="4800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E8"/>
              </a:buClr>
              <a:buSzPts val="1300"/>
              <a:buFont typeface="Noto Sans Thai"/>
              <a:buNone/>
            </a:pPr>
            <a:r>
              <a:rPr b="0" i="0" lang="en-US" sz="1300" u="none" cap="none" strike="noStrike">
                <a:solidFill>
                  <a:srgbClr val="6FA8E8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หลักสูตรอบรมองค์กร  ·  ChatGPT &amp; AI Mastery  ·  Secure Coding</a:t>
            </a:r>
            <a:endParaRPr b="0" i="0" sz="1300" u="none" cap="none" strike="noStrike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Noto Sans Thai"/>
        <a:cs typeface="Noto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Noto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Thai"/>
        <a:ea typeface="Noto Sans Thai"/>
        <a:cs typeface="Noto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Noto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Noto Sans Thai"/>
        <a:cs typeface="Noto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Noto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Thai"/>
        <a:ea typeface="Noto Sans Thai"/>
        <a:cs typeface="Noto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Noto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